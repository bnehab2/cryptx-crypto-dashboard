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4" r:id="rId14"/>
    <p:sldId id="267" r:id="rId15"/>
    <p:sldId id="268" r:id="rId16"/>
    <p:sldId id="269" r:id="rId17"/>
    <p:sldId id="270" r:id="rId18"/>
    <p:sldId id="271" r:id="rId19"/>
    <p:sldId id="272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A6EA-E4FA-6A3B-539E-E85A10EEA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7CA6F-5B66-0C77-3D8F-920441164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90EAF-E90B-BAC5-0CE5-AD1460D3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383AC-FD8E-CF46-1BD6-3A8CF79B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DE112-8C66-3A4F-21D1-B04C42F1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74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3453-2AF5-437E-12B6-B32CEBCB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175D-FE3C-C600-C3B5-B3C108222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F4FEA-C1BF-21C9-C863-807EB4B2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BEC46-201B-0B52-B348-D58A8F7C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CF999-8EEF-0CBB-B1F3-56A408F4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356E-1CD8-9CE5-C4A8-A9EA4E2FD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FE030-3DB1-7044-8354-3386A4141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9EB-44B4-B478-6778-90AEB9BF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1E7E9-B0C0-1958-6B14-1540B3D0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8211B-3226-ADE7-C5A4-83E6EA20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48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12F3-05B8-7A83-0C4B-B99F980B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9AF73-6802-2812-E93B-DD58DC6E7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0DAD4-FBF3-68E9-7BCA-E9FE7FEBC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21F0F-3AD0-A100-D301-C03AB728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9F582-6823-2C28-18F8-FA6C0E28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18F4B-7438-F393-3752-0CDA7695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2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D486-F58A-24C3-A2A1-CFAFE29B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12F44-05EE-1156-F09B-13A939678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3645B-92A1-CE57-A9AB-924EBABE5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43DE7-D379-4C32-9726-F6DB73C58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5B2BF-A183-D21E-3B28-A7D14A512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F58D49-D5BB-5F96-DD45-B7624555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7D7B6-107E-40A4-146C-6F2AB633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0B6C0A-A474-5942-944F-DF850573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85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9CF-1769-982B-7AF5-6E3A4C7A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98A08-2840-8910-B448-D2682C0B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74D84-863F-15B6-D7F7-590AA3FC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9393C-81BE-2501-5484-BB69F63B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54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317F98-480A-4BE0-5684-A3ABD19D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7E091-16BF-D0EB-A6D3-CB891B1F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A607E-BC81-2265-857E-1BB8BF9B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61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4BCE-F17C-1305-92C7-4937FB0B5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BF3B-888A-B3AA-C6DF-75491D8B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B3506-52D7-89DA-0692-766938ECA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26BC5-C9C6-A4C0-657E-6D309CE1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7CD76-1EF9-F64F-209B-7446EAC9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91B50-20A8-2FA8-AA9F-E4D09FA9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4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3F23-3493-F408-D8DA-6B4687CE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383506-A2BD-3873-F6C6-A14B0BE7F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AC803-7808-5EBB-A813-DBC55FEAE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E69E2-FDF1-8181-F810-6E89E37E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F8656-4A25-174A-9F74-46CEF06F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72168-1E78-C5C2-1C58-4781706D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17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DA3B-FBC7-0603-497B-D899303B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1ACCF-D024-AB8C-1136-16A3ACCE1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831F-1E92-FFFF-8979-971BF017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10BE2-6B24-CE71-6790-D88E53B0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D5CD-546B-0C9E-49F8-1095B651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2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7E7D5-AC36-B099-5ACE-3D77D181B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4290C-E955-9541-23B2-3D646ABB3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6B52D-9F79-AE9A-A425-B4B270DE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9ECB3-A3B7-8CB9-9FF7-9B651AE1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E16FD-2DBF-2842-EABD-CED47E5F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09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B93C7-9F9B-C962-6B63-96E2A3AD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798D1-5949-0D84-B0B1-8AE711722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DE1A2-5476-5B4E-0806-189819BE9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8DAB-B0AB-40C2-BB48-D925163F426F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7F27A-966F-75DB-67D3-9F3AB1CA5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15A2D-A2F7-A815-A899-6F9FF9F5C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E7906-CFFE-4EE1-8464-9482AC03F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2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4650957" y="2512394"/>
            <a:ext cx="2890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CryptX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2863769" y="3699276"/>
            <a:ext cx="6464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For Encrypting/Decrypting Texts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02ED3-CC86-0893-C511-E053ABF39EC6}"/>
              </a:ext>
            </a:extLst>
          </p:cNvPr>
          <p:cNvSpPr txBox="1"/>
          <p:nvPr/>
        </p:nvSpPr>
        <p:spPr>
          <a:xfrm>
            <a:off x="4003472" y="-604440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the Project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F26C6-6CD7-2878-7839-DC366F758C5B}"/>
              </a:ext>
            </a:extLst>
          </p:cNvPr>
          <p:cNvSpPr txBox="1"/>
          <p:nvPr/>
        </p:nvSpPr>
        <p:spPr>
          <a:xfrm>
            <a:off x="-3225799" y="1457980"/>
            <a:ext cx="3191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Purpose of the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5679D-C397-ACC1-C83D-8573D10DD70E}"/>
              </a:ext>
            </a:extLst>
          </p:cNvPr>
          <p:cNvSpPr txBox="1"/>
          <p:nvPr/>
        </p:nvSpPr>
        <p:spPr>
          <a:xfrm>
            <a:off x="12216581" y="195042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project is a web-based encryption and decryption tool called CryptX.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48E8F-E7AB-6DC3-CEBC-F0640EE20F36}"/>
              </a:ext>
            </a:extLst>
          </p:cNvPr>
          <p:cNvSpPr txBox="1"/>
          <p:nvPr/>
        </p:nvSpPr>
        <p:spPr>
          <a:xfrm>
            <a:off x="-9296400" y="2381310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allows users to encrypt plaintext into ciphertext and decrypt ciphertext back into plaintext using cryptographic algorithms.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0CF6B-992D-C0CC-D240-3245F0FB5438}"/>
              </a:ext>
            </a:extLst>
          </p:cNvPr>
          <p:cNvSpPr txBox="1"/>
          <p:nvPr/>
        </p:nvSpPr>
        <p:spPr>
          <a:xfrm>
            <a:off x="12216581" y="3157612"/>
            <a:ext cx="2836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303C2-207D-23A0-3CF5-FAE35ACB082A}"/>
              </a:ext>
            </a:extLst>
          </p:cNvPr>
          <p:cNvSpPr txBox="1"/>
          <p:nvPr/>
        </p:nvSpPr>
        <p:spPr>
          <a:xfrm>
            <a:off x="-9612531" y="368083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plaintext in the input field.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D0745-6EFE-416B-D861-2EC5616CFAFB}"/>
              </a:ext>
            </a:extLst>
          </p:cNvPr>
          <p:cNvSpPr txBox="1"/>
          <p:nvPr/>
        </p:nvSpPr>
        <p:spPr>
          <a:xfrm>
            <a:off x="13030200" y="4119708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They select a key generation method: LCG (Linear Congruential Generator), RSA, or a Custom Key.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B5B3A-2874-EBB5-B4D5-19CD26CC4DD5}"/>
              </a:ext>
            </a:extLst>
          </p:cNvPr>
          <p:cNvSpPr txBox="1"/>
          <p:nvPr/>
        </p:nvSpPr>
        <p:spPr>
          <a:xfrm>
            <a:off x="-9612531" y="4866360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generates a key (if necessary) and encrypts the plaintext using the CTR Mode (Counter Mode) algorithm.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627CE-3C5F-2E64-A0BD-911E668ECEDC}"/>
              </a:ext>
            </a:extLst>
          </p:cNvPr>
          <p:cNvSpPr txBox="1"/>
          <p:nvPr/>
        </p:nvSpPr>
        <p:spPr>
          <a:xfrm>
            <a:off x="13030200" y="561301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encrypted text (ciphertext) and the encryption key are displayed to the user.</a:t>
            </a:r>
          </a:p>
        </p:txBody>
      </p:sp>
    </p:spTree>
    <p:extLst>
      <p:ext uri="{BB962C8B-B14F-4D97-AF65-F5344CB8AC3E}">
        <p14:creationId xmlns:p14="http://schemas.microsoft.com/office/powerpoint/2010/main" val="1991780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4003472" y="634425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the Project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762000" y="1457980"/>
            <a:ext cx="3191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Purpose of the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11888" y="195042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project is a web-based encryption and decryption tool called CryptX.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A492E-2A43-05E4-631D-4919930C443D}"/>
              </a:ext>
            </a:extLst>
          </p:cNvPr>
          <p:cNvSpPr txBox="1"/>
          <p:nvPr/>
        </p:nvSpPr>
        <p:spPr>
          <a:xfrm>
            <a:off x="1411888" y="2381310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allows users to encrypt plaintext into ciphertext and decrypt ciphertext back into plaintext using cryptographic algorithms.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2AD01-D9E1-2A52-7F24-75C546508D80}"/>
              </a:ext>
            </a:extLst>
          </p:cNvPr>
          <p:cNvSpPr txBox="1"/>
          <p:nvPr/>
        </p:nvSpPr>
        <p:spPr>
          <a:xfrm>
            <a:off x="762000" y="3157612"/>
            <a:ext cx="2836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D1296-41D3-6A8C-F925-B63F1DA5B419}"/>
              </a:ext>
            </a:extLst>
          </p:cNvPr>
          <p:cNvSpPr txBox="1"/>
          <p:nvPr/>
        </p:nvSpPr>
        <p:spPr>
          <a:xfrm>
            <a:off x="1411888" y="368083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plaintext in the input field.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11888" y="4119708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They select a key generation method: LCG (Linear Congruential Generator), RSA, or a Custom Key.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F11BA-EF34-7AC0-4367-F49F55753D23}"/>
              </a:ext>
            </a:extLst>
          </p:cNvPr>
          <p:cNvSpPr txBox="1"/>
          <p:nvPr/>
        </p:nvSpPr>
        <p:spPr>
          <a:xfrm>
            <a:off x="1411888" y="4866360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generates a key (if necessary) and encrypts the plaintext using the CTR Mode (Counter Mode) algorithm.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EA49C-6D8C-3FD1-742E-19445C4F6C08}"/>
              </a:ext>
            </a:extLst>
          </p:cNvPr>
          <p:cNvSpPr txBox="1"/>
          <p:nvPr/>
        </p:nvSpPr>
        <p:spPr>
          <a:xfrm>
            <a:off x="1411888" y="561301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encrypted text (ciphertext) and the encryption key are displayed to the user.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81F1C1-F947-4E53-F147-DD1BB742BA7B}"/>
              </a:ext>
            </a:extLst>
          </p:cNvPr>
          <p:cNvSpPr txBox="1"/>
          <p:nvPr/>
        </p:nvSpPr>
        <p:spPr>
          <a:xfrm>
            <a:off x="24079200" y="2828836"/>
            <a:ext cx="28900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CryptX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0BD32B-20AF-BFCB-0363-C96E279B776F}"/>
              </a:ext>
            </a:extLst>
          </p:cNvPr>
          <p:cNvSpPr txBox="1"/>
          <p:nvPr/>
        </p:nvSpPr>
        <p:spPr>
          <a:xfrm>
            <a:off x="-17145000" y="4015718"/>
            <a:ext cx="6464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For Encrypting/Decrypting Texts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0F7F3D-5125-6006-2833-B450CE4493DD}"/>
              </a:ext>
            </a:extLst>
          </p:cNvPr>
          <p:cNvSpPr txBox="1"/>
          <p:nvPr/>
        </p:nvSpPr>
        <p:spPr>
          <a:xfrm>
            <a:off x="-7888888" y="1457980"/>
            <a:ext cx="2780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Decryption Process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C9F376-5C6F-9F9D-9387-824A5609845A}"/>
              </a:ext>
            </a:extLst>
          </p:cNvPr>
          <p:cNvSpPr txBox="1"/>
          <p:nvPr/>
        </p:nvSpPr>
        <p:spPr>
          <a:xfrm>
            <a:off x="12573000" y="19050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the ciphertext and the decryption key.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E0460-A3E3-5D14-688C-A6C4EFDF89FB}"/>
              </a:ext>
            </a:extLst>
          </p:cNvPr>
          <p:cNvSpPr txBox="1"/>
          <p:nvPr/>
        </p:nvSpPr>
        <p:spPr>
          <a:xfrm>
            <a:off x="-7239000" y="231660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decrypts the ciphertext using the provided key.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733F36-D61B-3831-AEE8-D659C1C5BCD8}"/>
              </a:ext>
            </a:extLst>
          </p:cNvPr>
          <p:cNvSpPr txBox="1"/>
          <p:nvPr/>
        </p:nvSpPr>
        <p:spPr>
          <a:xfrm>
            <a:off x="-7888888" y="3629508"/>
            <a:ext cx="3513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Key Generation Methods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27E119-AC46-02D0-55A0-42810B6AC822}"/>
              </a:ext>
            </a:extLst>
          </p:cNvPr>
          <p:cNvSpPr txBox="1"/>
          <p:nvPr/>
        </p:nvSpPr>
        <p:spPr>
          <a:xfrm>
            <a:off x="12573000" y="4175588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LCG: Generates pseudo-random keys using a mathematical formula.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BBF0BB-1BB6-9019-F27D-571E395C752E}"/>
              </a:ext>
            </a:extLst>
          </p:cNvPr>
          <p:cNvSpPr txBox="1"/>
          <p:nvPr/>
        </p:nvSpPr>
        <p:spPr>
          <a:xfrm>
            <a:off x="-7239000" y="4543309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RSA: Uses the RSA algorithm to generate secure encryption keys.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174184-5057-7CF7-767A-CF1360F4A99E}"/>
              </a:ext>
            </a:extLst>
          </p:cNvPr>
          <p:cNvSpPr txBox="1"/>
          <p:nvPr/>
        </p:nvSpPr>
        <p:spPr>
          <a:xfrm>
            <a:off x="12573000" y="495675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 Key: Allows users to input their own encryption key.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906727-46A0-D82A-DF5C-2A7696F50A73}"/>
              </a:ext>
            </a:extLst>
          </p:cNvPr>
          <p:cNvSpPr txBox="1"/>
          <p:nvPr/>
        </p:nvSpPr>
        <p:spPr>
          <a:xfrm>
            <a:off x="12573000" y="277393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original plaintext is displayed to the user.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1C471-41FC-033D-26A7-32550F2FCB06}"/>
              </a:ext>
            </a:extLst>
          </p:cNvPr>
          <p:cNvSpPr txBox="1"/>
          <p:nvPr/>
        </p:nvSpPr>
        <p:spPr>
          <a:xfrm>
            <a:off x="-11049000" y="5551456"/>
            <a:ext cx="268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Language Support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507DC-2270-0148-C708-21303D910418}"/>
              </a:ext>
            </a:extLst>
          </p:cNvPr>
          <p:cNvSpPr txBox="1"/>
          <p:nvPr/>
        </p:nvSpPr>
        <p:spPr>
          <a:xfrm>
            <a:off x="12199374" y="607467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tool supports multiple languages, including Arabic, using UTF-8 encoding.</a:t>
            </a:r>
          </a:p>
        </p:txBody>
      </p:sp>
    </p:spTree>
    <p:extLst>
      <p:ext uri="{BB962C8B-B14F-4D97-AF65-F5344CB8AC3E}">
        <p14:creationId xmlns:p14="http://schemas.microsoft.com/office/powerpoint/2010/main" val="345959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4003472" y="634425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the Project 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2AD01-D9E1-2A52-7F24-75C546508D80}"/>
              </a:ext>
            </a:extLst>
          </p:cNvPr>
          <p:cNvSpPr txBox="1"/>
          <p:nvPr/>
        </p:nvSpPr>
        <p:spPr>
          <a:xfrm>
            <a:off x="762000" y="3535444"/>
            <a:ext cx="3513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Key Generation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D1296-41D3-6A8C-F925-B63F1DA5B419}"/>
              </a:ext>
            </a:extLst>
          </p:cNvPr>
          <p:cNvSpPr txBox="1"/>
          <p:nvPr/>
        </p:nvSpPr>
        <p:spPr>
          <a:xfrm>
            <a:off x="1411888" y="4058664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LCG: Generates pseudo-random keys using a mathematical formula.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11888" y="444924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RSA: Uses the RSA algorithm to generate secure encryption keys.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F11BA-EF34-7AC0-4367-F49F55753D23}"/>
              </a:ext>
            </a:extLst>
          </p:cNvPr>
          <p:cNvSpPr txBox="1"/>
          <p:nvPr/>
        </p:nvSpPr>
        <p:spPr>
          <a:xfrm>
            <a:off x="1411888" y="483982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 Key: Allows users to input their own encryption key.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762000" y="1530721"/>
            <a:ext cx="2780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Decryption 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11888" y="195488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the ciphertext and the decryption key.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A492E-2A43-05E4-631D-4919930C443D}"/>
              </a:ext>
            </a:extLst>
          </p:cNvPr>
          <p:cNvSpPr txBox="1"/>
          <p:nvPr/>
        </p:nvSpPr>
        <p:spPr>
          <a:xfrm>
            <a:off x="1411888" y="2389347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decrypts the ciphertext using the provided key.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5754F-98CE-E8F1-3EEC-F3286415DE5E}"/>
              </a:ext>
            </a:extLst>
          </p:cNvPr>
          <p:cNvSpPr txBox="1"/>
          <p:nvPr/>
        </p:nvSpPr>
        <p:spPr>
          <a:xfrm>
            <a:off x="1411888" y="2823813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original plaintext is displayed to the user.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57169-1737-3848-6894-A8FFE73BC96B}"/>
              </a:ext>
            </a:extLst>
          </p:cNvPr>
          <p:cNvSpPr txBox="1"/>
          <p:nvPr/>
        </p:nvSpPr>
        <p:spPr>
          <a:xfrm>
            <a:off x="30099000" y="1457980"/>
            <a:ext cx="3191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Purpose of the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358FB-D917-8A41-7276-3539B6E7649A}"/>
              </a:ext>
            </a:extLst>
          </p:cNvPr>
          <p:cNvSpPr txBox="1"/>
          <p:nvPr/>
        </p:nvSpPr>
        <p:spPr>
          <a:xfrm>
            <a:off x="24028399" y="2381310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allows users to encrypt plaintext into ciphertext and decrypt ciphertext back into plaintext using cryptographic algorithms.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1D0CA7-C663-4EA4-5EFC-70DF277D874B}"/>
              </a:ext>
            </a:extLst>
          </p:cNvPr>
          <p:cNvSpPr txBox="1"/>
          <p:nvPr/>
        </p:nvSpPr>
        <p:spPr>
          <a:xfrm>
            <a:off x="23712268" y="368083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plaintext in the input field.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E7B43-B1A7-D7E0-5B1D-F83C9A934B59}"/>
              </a:ext>
            </a:extLst>
          </p:cNvPr>
          <p:cNvSpPr txBox="1"/>
          <p:nvPr/>
        </p:nvSpPr>
        <p:spPr>
          <a:xfrm>
            <a:off x="23712268" y="4866360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generates a key (if necessary) and encrypts the plaintext using the CTR Mode (Counter Mode) algorithm.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901AB4-126F-8983-2374-5CF9D5209D97}"/>
              </a:ext>
            </a:extLst>
          </p:cNvPr>
          <p:cNvSpPr txBox="1"/>
          <p:nvPr/>
        </p:nvSpPr>
        <p:spPr>
          <a:xfrm>
            <a:off x="-21336000" y="1950422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project is a web-based encryption and decryption tool called CryptX.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5DAB15-2DCF-9ABC-16C7-302602112BEE}"/>
              </a:ext>
            </a:extLst>
          </p:cNvPr>
          <p:cNvSpPr txBox="1"/>
          <p:nvPr/>
        </p:nvSpPr>
        <p:spPr>
          <a:xfrm>
            <a:off x="-21336000" y="3157612"/>
            <a:ext cx="2836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Process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1A60B1-6FEC-712F-BF59-A5E376313AF8}"/>
              </a:ext>
            </a:extLst>
          </p:cNvPr>
          <p:cNvSpPr txBox="1"/>
          <p:nvPr/>
        </p:nvSpPr>
        <p:spPr>
          <a:xfrm>
            <a:off x="-20522381" y="4119708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They select a key generation method: LCG (Linear Congruential Generator), RSA, or a Custom Key.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BDCC93-E3D3-C9A0-D439-B62F82F8EA65}"/>
              </a:ext>
            </a:extLst>
          </p:cNvPr>
          <p:cNvSpPr txBox="1"/>
          <p:nvPr/>
        </p:nvSpPr>
        <p:spPr>
          <a:xfrm>
            <a:off x="-20522381" y="561301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encrypted text (ciphertext) and the encryption key are displayed to the user.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234B2A-7450-2E84-791A-27A8174E263D}"/>
              </a:ext>
            </a:extLst>
          </p:cNvPr>
          <p:cNvSpPr txBox="1"/>
          <p:nvPr/>
        </p:nvSpPr>
        <p:spPr>
          <a:xfrm>
            <a:off x="762000" y="5551456"/>
            <a:ext cx="268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Language Support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9D4659-A731-5836-AA35-37DDD0B34BBA}"/>
              </a:ext>
            </a:extLst>
          </p:cNvPr>
          <p:cNvSpPr txBox="1"/>
          <p:nvPr/>
        </p:nvSpPr>
        <p:spPr>
          <a:xfrm>
            <a:off x="1411888" y="607467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tool supports multiple languages, including Arabic, using UTF-8 encoding.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5F8AA-2C3E-CE3A-35AF-1FB8495B7FA2}"/>
              </a:ext>
            </a:extLst>
          </p:cNvPr>
          <p:cNvSpPr txBox="1"/>
          <p:nvPr/>
        </p:nvSpPr>
        <p:spPr>
          <a:xfrm>
            <a:off x="-8596532" y="5067128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HTML: </a:t>
            </a:r>
            <a:r>
              <a:rPr lang="en-US" sz="2000" dirty="0"/>
              <a:t>For structuring the web pages.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B1AFF4-0B19-6D07-1DF8-75072D1A4AEF}"/>
              </a:ext>
            </a:extLst>
          </p:cNvPr>
          <p:cNvSpPr txBox="1"/>
          <p:nvPr/>
        </p:nvSpPr>
        <p:spPr>
          <a:xfrm>
            <a:off x="-8596532" y="584829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JavaScript: </a:t>
            </a:r>
            <a:r>
              <a:rPr lang="en-US" sz="2000" dirty="0"/>
              <a:t>For adding interactivity to the frontend.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84360E-F2F5-845C-7E25-EF82B4EF0B02}"/>
              </a:ext>
            </a:extLst>
          </p:cNvPr>
          <p:cNvSpPr txBox="1"/>
          <p:nvPr/>
        </p:nvSpPr>
        <p:spPr>
          <a:xfrm>
            <a:off x="-9246420" y="2056661"/>
            <a:ext cx="3282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Backend Development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6E495-283C-E906-2995-AA96036FFEDA}"/>
              </a:ext>
            </a:extLst>
          </p:cNvPr>
          <p:cNvSpPr txBox="1"/>
          <p:nvPr/>
        </p:nvSpPr>
        <p:spPr>
          <a:xfrm>
            <a:off x="-8596532" y="2998561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Flask: </a:t>
            </a:r>
            <a:r>
              <a:rPr lang="en-US" sz="2000" dirty="0"/>
              <a:t>A lightweight web framework to handle HTTP requests and serve the application.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9B6F9-5416-91AE-A72E-3345C0691E61}"/>
              </a:ext>
            </a:extLst>
          </p:cNvPr>
          <p:cNvSpPr txBox="1"/>
          <p:nvPr/>
        </p:nvSpPr>
        <p:spPr>
          <a:xfrm>
            <a:off x="12115940" y="4543908"/>
            <a:ext cx="3324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Frontend Development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6B5625-E5FF-C6D7-338D-4FD4951104A8}"/>
              </a:ext>
            </a:extLst>
          </p:cNvPr>
          <p:cNvSpPr txBox="1"/>
          <p:nvPr/>
        </p:nvSpPr>
        <p:spPr>
          <a:xfrm>
            <a:off x="12765828" y="5457709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CSS: </a:t>
            </a:r>
            <a:r>
              <a:rPr lang="en-US" sz="2000" dirty="0"/>
              <a:t>For styling the user interface.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5A358E-3C83-C790-C3CB-543791295D89}"/>
              </a:ext>
            </a:extLst>
          </p:cNvPr>
          <p:cNvSpPr txBox="1"/>
          <p:nvPr/>
        </p:nvSpPr>
        <p:spPr>
          <a:xfrm>
            <a:off x="12765828" y="248082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Python:</a:t>
            </a:r>
            <a:r>
              <a:rPr lang="en-US" sz="2000" dirty="0"/>
              <a:t> The main programming language used for backend logic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34BCCF-A76D-3198-0604-AA11ECFB4686}"/>
              </a:ext>
            </a:extLst>
          </p:cNvPr>
          <p:cNvSpPr txBox="1"/>
          <p:nvPr/>
        </p:nvSpPr>
        <p:spPr>
          <a:xfrm>
            <a:off x="3458323" y="-685800"/>
            <a:ext cx="5275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Tools and 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3660604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3458323" y="634425"/>
            <a:ext cx="5275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Tools and 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2AD01-D9E1-2A52-7F24-75C546508D80}"/>
              </a:ext>
            </a:extLst>
          </p:cNvPr>
          <p:cNvSpPr txBox="1"/>
          <p:nvPr/>
        </p:nvSpPr>
        <p:spPr>
          <a:xfrm>
            <a:off x="762000" y="4543908"/>
            <a:ext cx="3324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Frontend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D1296-41D3-6A8C-F925-B63F1DA5B419}"/>
              </a:ext>
            </a:extLst>
          </p:cNvPr>
          <p:cNvSpPr txBox="1"/>
          <p:nvPr/>
        </p:nvSpPr>
        <p:spPr>
          <a:xfrm>
            <a:off x="1411888" y="5067128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HTML: </a:t>
            </a:r>
            <a:r>
              <a:rPr lang="en-US" sz="2000" dirty="0"/>
              <a:t>For structuring the web pages.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11888" y="5457709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CSS: </a:t>
            </a:r>
            <a:r>
              <a:rPr lang="en-US" sz="2000" dirty="0"/>
              <a:t>For styling the user interface.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F11BA-EF34-7AC0-4367-F49F55753D23}"/>
              </a:ext>
            </a:extLst>
          </p:cNvPr>
          <p:cNvSpPr txBox="1"/>
          <p:nvPr/>
        </p:nvSpPr>
        <p:spPr>
          <a:xfrm>
            <a:off x="1411888" y="584829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JavaScript: </a:t>
            </a:r>
            <a:r>
              <a:rPr lang="en-US" sz="2000" dirty="0"/>
              <a:t>For adding interactivity to the frontend.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762000" y="2056661"/>
            <a:ext cx="3282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Backend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11888" y="248082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Python:</a:t>
            </a:r>
            <a:r>
              <a:rPr lang="en-US" sz="2000" dirty="0"/>
              <a:t> The main programming language used for backend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A492E-2A43-05E4-631D-4919930C443D}"/>
              </a:ext>
            </a:extLst>
          </p:cNvPr>
          <p:cNvSpPr txBox="1"/>
          <p:nvPr/>
        </p:nvSpPr>
        <p:spPr>
          <a:xfrm>
            <a:off x="1411888" y="2998561"/>
            <a:ext cx="956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Flask: </a:t>
            </a:r>
            <a:r>
              <a:rPr lang="en-US" sz="2000" dirty="0"/>
              <a:t>A lightweight web framework to handle HTTP requests and serve the application.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FA1E31-27A6-9A35-FC22-B0965D632FD2}"/>
              </a:ext>
            </a:extLst>
          </p:cNvPr>
          <p:cNvSpPr txBox="1"/>
          <p:nvPr/>
        </p:nvSpPr>
        <p:spPr>
          <a:xfrm>
            <a:off x="-23088600" y="3535444"/>
            <a:ext cx="3513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Key Generation Methods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4BE24-FF5F-7D04-9528-9162228B00F4}"/>
              </a:ext>
            </a:extLst>
          </p:cNvPr>
          <p:cNvSpPr txBox="1"/>
          <p:nvPr/>
        </p:nvSpPr>
        <p:spPr>
          <a:xfrm>
            <a:off x="-22438712" y="444924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RSA: Uses the RSA algorithm to generate secure encryption keys.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1B798-0FD5-00B6-7B55-DED92CCF0527}"/>
              </a:ext>
            </a:extLst>
          </p:cNvPr>
          <p:cNvSpPr txBox="1"/>
          <p:nvPr/>
        </p:nvSpPr>
        <p:spPr>
          <a:xfrm>
            <a:off x="-23088600" y="1530721"/>
            <a:ext cx="2780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Decryption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2E989C-92FF-D102-EFD7-06A9A274462D}"/>
              </a:ext>
            </a:extLst>
          </p:cNvPr>
          <p:cNvSpPr txBox="1"/>
          <p:nvPr/>
        </p:nvSpPr>
        <p:spPr>
          <a:xfrm>
            <a:off x="-22438712" y="2389347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decrypts the ciphertext using the provided key.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06BDF-DBB4-B8FC-124B-5FC1184D71E9}"/>
              </a:ext>
            </a:extLst>
          </p:cNvPr>
          <p:cNvSpPr txBox="1"/>
          <p:nvPr/>
        </p:nvSpPr>
        <p:spPr>
          <a:xfrm>
            <a:off x="-23088600" y="5551456"/>
            <a:ext cx="268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Language Support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18F4CC-1DF5-06F5-5F9A-FF94AA63447F}"/>
              </a:ext>
            </a:extLst>
          </p:cNvPr>
          <p:cNvSpPr txBox="1"/>
          <p:nvPr/>
        </p:nvSpPr>
        <p:spPr>
          <a:xfrm>
            <a:off x="24652888" y="4058664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LCG: Generates pseudo-random keys using a mathematical formula.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3773C4-287D-6F7E-A080-AD2AD0BE3B27}"/>
              </a:ext>
            </a:extLst>
          </p:cNvPr>
          <p:cNvSpPr txBox="1"/>
          <p:nvPr/>
        </p:nvSpPr>
        <p:spPr>
          <a:xfrm>
            <a:off x="24652888" y="483982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 Key: Allows users to input their own encryption key.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A756A4-9545-8EB2-FBAE-96EC65F6C1D3}"/>
              </a:ext>
            </a:extLst>
          </p:cNvPr>
          <p:cNvSpPr txBox="1"/>
          <p:nvPr/>
        </p:nvSpPr>
        <p:spPr>
          <a:xfrm>
            <a:off x="24652888" y="195488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the ciphertext and the decryption key.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4F3F94-75A6-44CA-B9C5-7FC2C22CD24E}"/>
              </a:ext>
            </a:extLst>
          </p:cNvPr>
          <p:cNvSpPr txBox="1"/>
          <p:nvPr/>
        </p:nvSpPr>
        <p:spPr>
          <a:xfrm>
            <a:off x="24652888" y="2823813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original plaintext is displayed to the user.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CAB54A-5808-A279-A65B-80EA945645FA}"/>
              </a:ext>
            </a:extLst>
          </p:cNvPr>
          <p:cNvSpPr txBox="1"/>
          <p:nvPr/>
        </p:nvSpPr>
        <p:spPr>
          <a:xfrm>
            <a:off x="24652888" y="607467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tool supports multiple languages, including Arabic, using UTF-8 encoding.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EA55FF-0C62-D18F-255E-450B4CD28D59}"/>
              </a:ext>
            </a:extLst>
          </p:cNvPr>
          <p:cNvSpPr txBox="1"/>
          <p:nvPr/>
        </p:nvSpPr>
        <p:spPr>
          <a:xfrm>
            <a:off x="4003472" y="-7239000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the Project Works</a:t>
            </a:r>
          </a:p>
        </p:txBody>
      </p:sp>
    </p:spTree>
    <p:extLst>
      <p:ext uri="{BB962C8B-B14F-4D97-AF65-F5344CB8AC3E}">
        <p14:creationId xmlns:p14="http://schemas.microsoft.com/office/powerpoint/2010/main" val="1243977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3458323" y="634425"/>
            <a:ext cx="5275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Tools and 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2AD01-D9E1-2A52-7F24-75C546508D80}"/>
              </a:ext>
            </a:extLst>
          </p:cNvPr>
          <p:cNvSpPr txBox="1"/>
          <p:nvPr/>
        </p:nvSpPr>
        <p:spPr>
          <a:xfrm>
            <a:off x="762000" y="4543908"/>
            <a:ext cx="1698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Other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D1296-41D3-6A8C-F925-B63F1DA5B419}"/>
              </a:ext>
            </a:extLst>
          </p:cNvPr>
          <p:cNvSpPr txBox="1"/>
          <p:nvPr/>
        </p:nvSpPr>
        <p:spPr>
          <a:xfrm>
            <a:off x="1411888" y="5067128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UTF-8 Encoding: </a:t>
            </a:r>
            <a:r>
              <a:rPr lang="en-US" sz="2000" dirty="0"/>
              <a:t>Ensures compatibility with multilingual text, including Arabic.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11888" y="5457709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PyInstaller</a:t>
            </a:r>
            <a:r>
              <a:rPr lang="en-US" sz="2000" b="1" dirty="0"/>
              <a:t>: </a:t>
            </a:r>
            <a:r>
              <a:rPr lang="en-US" sz="2000" dirty="0"/>
              <a:t>Used to convert the Python project into a standalone executable file.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762000" y="2056661"/>
            <a:ext cx="311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Algorithms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11888" y="248082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CTR Mode: </a:t>
            </a:r>
            <a:r>
              <a:rPr lang="en-US" sz="2000" dirty="0"/>
              <a:t>A block cipher mode of operation used for encryption and decryption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A492E-2A43-05E4-631D-4919930C443D}"/>
              </a:ext>
            </a:extLst>
          </p:cNvPr>
          <p:cNvSpPr txBox="1"/>
          <p:nvPr/>
        </p:nvSpPr>
        <p:spPr>
          <a:xfrm>
            <a:off x="1411888" y="299301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LCG:</a:t>
            </a:r>
            <a:r>
              <a:rPr lang="en-US" sz="2000" dirty="0"/>
              <a:t> A simple random number generator for key generation.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FA1E31-27A6-9A35-FC22-B0965D632FD2}"/>
              </a:ext>
            </a:extLst>
          </p:cNvPr>
          <p:cNvSpPr txBox="1"/>
          <p:nvPr/>
        </p:nvSpPr>
        <p:spPr>
          <a:xfrm>
            <a:off x="-23088600" y="3535444"/>
            <a:ext cx="3513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Key Generation Methods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4BE24-FF5F-7D04-9528-9162228B00F4}"/>
              </a:ext>
            </a:extLst>
          </p:cNvPr>
          <p:cNvSpPr txBox="1"/>
          <p:nvPr/>
        </p:nvSpPr>
        <p:spPr>
          <a:xfrm>
            <a:off x="-22438712" y="444924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RSA: Uses the RSA algorithm to generate secure encryption keys.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1B798-0FD5-00B6-7B55-DED92CCF0527}"/>
              </a:ext>
            </a:extLst>
          </p:cNvPr>
          <p:cNvSpPr txBox="1"/>
          <p:nvPr/>
        </p:nvSpPr>
        <p:spPr>
          <a:xfrm>
            <a:off x="-23088600" y="1530721"/>
            <a:ext cx="2780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Decryption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2E989C-92FF-D102-EFD7-06A9A274462D}"/>
              </a:ext>
            </a:extLst>
          </p:cNvPr>
          <p:cNvSpPr txBox="1"/>
          <p:nvPr/>
        </p:nvSpPr>
        <p:spPr>
          <a:xfrm>
            <a:off x="-22438712" y="2389347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backend decrypts the ciphertext using the provided key.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06BDF-DBB4-B8FC-124B-5FC1184D71E9}"/>
              </a:ext>
            </a:extLst>
          </p:cNvPr>
          <p:cNvSpPr txBox="1"/>
          <p:nvPr/>
        </p:nvSpPr>
        <p:spPr>
          <a:xfrm>
            <a:off x="-23088600" y="5551456"/>
            <a:ext cx="268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Language Support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18F4CC-1DF5-06F5-5F9A-FF94AA63447F}"/>
              </a:ext>
            </a:extLst>
          </p:cNvPr>
          <p:cNvSpPr txBox="1"/>
          <p:nvPr/>
        </p:nvSpPr>
        <p:spPr>
          <a:xfrm>
            <a:off x="24652888" y="4058664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LCG: Generates pseudo-random keys using a mathematical formula.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3773C4-287D-6F7E-A080-AD2AD0BE3B27}"/>
              </a:ext>
            </a:extLst>
          </p:cNvPr>
          <p:cNvSpPr txBox="1"/>
          <p:nvPr/>
        </p:nvSpPr>
        <p:spPr>
          <a:xfrm>
            <a:off x="24652888" y="483982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Custom Key: Allows users to input their own encryption key.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A756A4-9545-8EB2-FBAE-96EC65F6C1D3}"/>
              </a:ext>
            </a:extLst>
          </p:cNvPr>
          <p:cNvSpPr txBox="1"/>
          <p:nvPr/>
        </p:nvSpPr>
        <p:spPr>
          <a:xfrm>
            <a:off x="24652888" y="195488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user enters the ciphertext and the decryption key.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4F3F94-75A6-44CA-B9C5-7FC2C22CD24E}"/>
              </a:ext>
            </a:extLst>
          </p:cNvPr>
          <p:cNvSpPr txBox="1"/>
          <p:nvPr/>
        </p:nvSpPr>
        <p:spPr>
          <a:xfrm>
            <a:off x="24652888" y="2823813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original plaintext is displayed to the user.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CAB54A-5808-A279-A65B-80EA945645FA}"/>
              </a:ext>
            </a:extLst>
          </p:cNvPr>
          <p:cNvSpPr txBox="1"/>
          <p:nvPr/>
        </p:nvSpPr>
        <p:spPr>
          <a:xfrm>
            <a:off x="24652888" y="607467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tool supports multiple languages, including Arabic, using UTF-8 encoding.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B64DC-C33A-F95A-F4F1-86FD0084E3FA}"/>
              </a:ext>
            </a:extLst>
          </p:cNvPr>
          <p:cNvSpPr txBox="1"/>
          <p:nvPr/>
        </p:nvSpPr>
        <p:spPr>
          <a:xfrm>
            <a:off x="1411888" y="35052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RSA: </a:t>
            </a:r>
            <a:r>
              <a:rPr lang="en-US" sz="2000" dirty="0"/>
              <a:t>A widely used public-key cryptosystem for secure key generation.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1A3D1-7ED2-144C-C258-30E037EBFBF5}"/>
              </a:ext>
            </a:extLst>
          </p:cNvPr>
          <p:cNvSpPr txBox="1"/>
          <p:nvPr/>
        </p:nvSpPr>
        <p:spPr>
          <a:xfrm>
            <a:off x="12420600" y="3278243"/>
            <a:ext cx="265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Set Up the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54113E-EEC9-E256-960F-57C13C2B6AD3}"/>
              </a:ext>
            </a:extLst>
          </p:cNvPr>
          <p:cNvSpPr txBox="1"/>
          <p:nvPr/>
        </p:nvSpPr>
        <p:spPr>
          <a:xfrm>
            <a:off x="-6360512" y="375987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Clone or download the project files to your computer.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67F54-CA29-28B2-C6CE-A2760E3B6368}"/>
              </a:ext>
            </a:extLst>
          </p:cNvPr>
          <p:cNvSpPr txBox="1"/>
          <p:nvPr/>
        </p:nvSpPr>
        <p:spPr>
          <a:xfrm>
            <a:off x="-7010400" y="1752600"/>
            <a:ext cx="199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Install 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8F318-344B-2AE7-6D56-B5D889CAD820}"/>
              </a:ext>
            </a:extLst>
          </p:cNvPr>
          <p:cNvSpPr txBox="1"/>
          <p:nvPr/>
        </p:nvSpPr>
        <p:spPr>
          <a:xfrm>
            <a:off x="13070488" y="2179261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Download and install Python from the official website: </a:t>
            </a:r>
            <a:r>
              <a:rPr lang="en-US" sz="2000" dirty="0">
                <a:hlinkClick r:id="rId2"/>
              </a:rPr>
              <a:t>Python Download</a:t>
            </a:r>
            <a:r>
              <a:rPr lang="en-US" sz="20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0EF20-AF01-0356-FE2A-DC05AB1C4D91}"/>
              </a:ext>
            </a:extLst>
          </p:cNvPr>
          <p:cNvSpPr txBox="1"/>
          <p:nvPr/>
        </p:nvSpPr>
        <p:spPr>
          <a:xfrm>
            <a:off x="-6360512" y="2544367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Ensure you have Python 3.10 or higher installed.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AC983-92CC-41B4-B76E-D88BC51A5FB4}"/>
              </a:ext>
            </a:extLst>
          </p:cNvPr>
          <p:cNvSpPr txBox="1"/>
          <p:nvPr/>
        </p:nvSpPr>
        <p:spPr>
          <a:xfrm>
            <a:off x="4003472" y="-551827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Run the Project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C61B65-5D15-1D67-AC66-5219A2712815}"/>
              </a:ext>
            </a:extLst>
          </p:cNvPr>
          <p:cNvSpPr txBox="1"/>
          <p:nvPr/>
        </p:nvSpPr>
        <p:spPr>
          <a:xfrm>
            <a:off x="-6360512" y="501807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terminal and navigate to the project folder.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8B679-9C3B-BA1C-D9C3-0ABD50E69EA0}"/>
              </a:ext>
            </a:extLst>
          </p:cNvPr>
          <p:cNvSpPr txBox="1"/>
          <p:nvPr/>
        </p:nvSpPr>
        <p:spPr>
          <a:xfrm>
            <a:off x="12420600" y="4493751"/>
            <a:ext cx="308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Install Dependencies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A92411-5680-D234-B191-E90425F4B4FC}"/>
              </a:ext>
            </a:extLst>
          </p:cNvPr>
          <p:cNvSpPr txBox="1"/>
          <p:nvPr/>
        </p:nvSpPr>
        <p:spPr>
          <a:xfrm>
            <a:off x="13070488" y="548083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Install the required libraries using: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F9DAE3-9889-DC88-E8FD-B269C3AFCC2C}"/>
              </a:ext>
            </a:extLst>
          </p:cNvPr>
          <p:cNvSpPr txBox="1"/>
          <p:nvPr/>
        </p:nvSpPr>
        <p:spPr>
          <a:xfrm>
            <a:off x="4572800" y="7905690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pip install flask</a:t>
            </a:r>
          </a:p>
        </p:txBody>
      </p:sp>
    </p:spTree>
    <p:extLst>
      <p:ext uri="{BB962C8B-B14F-4D97-AF65-F5344CB8AC3E}">
        <p14:creationId xmlns:p14="http://schemas.microsoft.com/office/powerpoint/2010/main" val="1211917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3458323" y="-7239000"/>
            <a:ext cx="5275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Tools and 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2AD01-D9E1-2A52-7F24-75C546508D80}"/>
              </a:ext>
            </a:extLst>
          </p:cNvPr>
          <p:cNvSpPr txBox="1"/>
          <p:nvPr/>
        </p:nvSpPr>
        <p:spPr>
          <a:xfrm>
            <a:off x="762000" y="3278243"/>
            <a:ext cx="265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Set Up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D1296-41D3-6A8C-F925-B63F1DA5B419}"/>
              </a:ext>
            </a:extLst>
          </p:cNvPr>
          <p:cNvSpPr txBox="1"/>
          <p:nvPr/>
        </p:nvSpPr>
        <p:spPr>
          <a:xfrm>
            <a:off x="1411888" y="375987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Clone or download the project files to your computer.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762000" y="1752600"/>
            <a:ext cx="199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Install Python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11888" y="2179261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Download and install Python from the official website: </a:t>
            </a:r>
            <a:r>
              <a:rPr lang="en-US" sz="2000" dirty="0">
                <a:hlinkClick r:id="rId2"/>
              </a:rPr>
              <a:t>Python Download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A492E-2A43-05E4-631D-4919930C443D}"/>
              </a:ext>
            </a:extLst>
          </p:cNvPr>
          <p:cNvSpPr txBox="1"/>
          <p:nvPr/>
        </p:nvSpPr>
        <p:spPr>
          <a:xfrm>
            <a:off x="1411888" y="2544367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Ensure you have Python 3.10 or higher installed.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2EE41-E199-64E0-BDED-0600E64E95F5}"/>
              </a:ext>
            </a:extLst>
          </p:cNvPr>
          <p:cNvSpPr txBox="1"/>
          <p:nvPr/>
        </p:nvSpPr>
        <p:spPr>
          <a:xfrm>
            <a:off x="4003472" y="634425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Run the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11888" y="501807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terminal and navigate to the project folder.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FA4DE-ADA0-8732-C4CD-78BD9C3BE78B}"/>
              </a:ext>
            </a:extLst>
          </p:cNvPr>
          <p:cNvSpPr txBox="1"/>
          <p:nvPr/>
        </p:nvSpPr>
        <p:spPr>
          <a:xfrm>
            <a:off x="762000" y="4493751"/>
            <a:ext cx="308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Install Dependencies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71302-C388-A622-8DD9-0F8B091899CE}"/>
              </a:ext>
            </a:extLst>
          </p:cNvPr>
          <p:cNvSpPr txBox="1"/>
          <p:nvPr/>
        </p:nvSpPr>
        <p:spPr>
          <a:xfrm>
            <a:off x="1411888" y="548083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Install the required libraries using: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8A5C8-7F01-276D-ED13-26959D349918}"/>
              </a:ext>
            </a:extLst>
          </p:cNvPr>
          <p:cNvSpPr txBox="1"/>
          <p:nvPr/>
        </p:nvSpPr>
        <p:spPr>
          <a:xfrm>
            <a:off x="4572800" y="5943600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pip install flask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1989A8-DA2E-C09F-38FB-14A7A574294B}"/>
              </a:ext>
            </a:extLst>
          </p:cNvPr>
          <p:cNvSpPr txBox="1"/>
          <p:nvPr/>
        </p:nvSpPr>
        <p:spPr>
          <a:xfrm>
            <a:off x="-20782456" y="4543908"/>
            <a:ext cx="1698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Other Tools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0EF310-1D8D-8A5B-41C1-E55D90B4004D}"/>
              </a:ext>
            </a:extLst>
          </p:cNvPr>
          <p:cNvSpPr txBox="1"/>
          <p:nvPr/>
        </p:nvSpPr>
        <p:spPr>
          <a:xfrm>
            <a:off x="-20132568" y="5457709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PyInstaller</a:t>
            </a:r>
            <a:r>
              <a:rPr lang="en-US" sz="2000" b="1" dirty="0"/>
              <a:t>: </a:t>
            </a:r>
            <a:r>
              <a:rPr lang="en-US" sz="2000" dirty="0"/>
              <a:t>Used to convert the Python project into a standalone executable file.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32A159-1950-27D6-99B5-231AE9CB235A}"/>
              </a:ext>
            </a:extLst>
          </p:cNvPr>
          <p:cNvSpPr txBox="1"/>
          <p:nvPr/>
        </p:nvSpPr>
        <p:spPr>
          <a:xfrm>
            <a:off x="-20782456" y="2056661"/>
            <a:ext cx="311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Algorithms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322B45-2E55-7A46-8495-CC0E35E8EA95}"/>
              </a:ext>
            </a:extLst>
          </p:cNvPr>
          <p:cNvSpPr txBox="1"/>
          <p:nvPr/>
        </p:nvSpPr>
        <p:spPr>
          <a:xfrm>
            <a:off x="-20132568" y="299301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LCG:</a:t>
            </a:r>
            <a:r>
              <a:rPr lang="en-US" sz="2000" dirty="0"/>
              <a:t> A simple random number generator for key generation.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A0F939-E328-19C7-F006-F09414E3315D}"/>
              </a:ext>
            </a:extLst>
          </p:cNvPr>
          <p:cNvSpPr txBox="1"/>
          <p:nvPr/>
        </p:nvSpPr>
        <p:spPr>
          <a:xfrm>
            <a:off x="26898600" y="5067128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UTF-8 Encoding: </a:t>
            </a:r>
            <a:r>
              <a:rPr lang="en-US" sz="2000" dirty="0"/>
              <a:t>Ensures compatibility with multilingual text, including Arabic.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7A684F-2367-FC75-7E1E-94FD3DA04CBA}"/>
              </a:ext>
            </a:extLst>
          </p:cNvPr>
          <p:cNvSpPr txBox="1"/>
          <p:nvPr/>
        </p:nvSpPr>
        <p:spPr>
          <a:xfrm>
            <a:off x="26898600" y="248082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CTR Mode: </a:t>
            </a:r>
            <a:r>
              <a:rPr lang="en-US" sz="2000" dirty="0"/>
              <a:t>A block cipher mode of operation used for encryption and decryption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FFE77B-3CF7-56AE-1A75-A1552EB98673}"/>
              </a:ext>
            </a:extLst>
          </p:cNvPr>
          <p:cNvSpPr txBox="1"/>
          <p:nvPr/>
        </p:nvSpPr>
        <p:spPr>
          <a:xfrm>
            <a:off x="26898600" y="35052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RSA: </a:t>
            </a:r>
            <a:r>
              <a:rPr lang="en-US" sz="2000" dirty="0"/>
              <a:t>A widely used public-key cryptosystem for secure key generation.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2F2CDA-EE09-9496-7F24-4470CE2FAA86}"/>
              </a:ext>
            </a:extLst>
          </p:cNvPr>
          <p:cNvSpPr txBox="1"/>
          <p:nvPr/>
        </p:nvSpPr>
        <p:spPr>
          <a:xfrm>
            <a:off x="-3581400" y="2608266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python app.py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1B4F93-9976-9D1F-1F0A-8FD5A16E5C95}"/>
              </a:ext>
            </a:extLst>
          </p:cNvPr>
          <p:cNvSpPr txBox="1"/>
          <p:nvPr/>
        </p:nvSpPr>
        <p:spPr>
          <a:xfrm>
            <a:off x="-6364109" y="1752600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 the Application: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883153-4D18-9307-497F-171188BF1696}"/>
              </a:ext>
            </a:extLst>
          </p:cNvPr>
          <p:cNvSpPr txBox="1"/>
          <p:nvPr/>
        </p:nvSpPr>
        <p:spPr>
          <a:xfrm>
            <a:off x="-6364109" y="4343400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the Application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A73DAD-B2F0-E7E8-E78E-AB6EBC92FEA8}"/>
              </a:ext>
            </a:extLst>
          </p:cNvPr>
          <p:cNvSpPr txBox="1"/>
          <p:nvPr/>
        </p:nvSpPr>
        <p:spPr>
          <a:xfrm>
            <a:off x="-5714221" y="533048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decryption panel to decrypt text.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A41C7D-7BA6-A4FC-182E-30493A6649A0}"/>
              </a:ext>
            </a:extLst>
          </p:cNvPr>
          <p:cNvSpPr txBox="1"/>
          <p:nvPr/>
        </p:nvSpPr>
        <p:spPr>
          <a:xfrm>
            <a:off x="16499488" y="2276237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the Flask server by running: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2BCDAC-F368-0052-D62C-2550A22B44BD}"/>
              </a:ext>
            </a:extLst>
          </p:cNvPr>
          <p:cNvSpPr txBox="1"/>
          <p:nvPr/>
        </p:nvSpPr>
        <p:spPr>
          <a:xfrm>
            <a:off x="16499488" y="32004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web browser and go to http://127.0.0.1:5000 to access the application.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464A64-C374-D523-BE89-E0EB3B37ED68}"/>
              </a:ext>
            </a:extLst>
          </p:cNvPr>
          <p:cNvSpPr txBox="1"/>
          <p:nvPr/>
        </p:nvSpPr>
        <p:spPr>
          <a:xfrm>
            <a:off x="16154400" y="486772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encryption panel to encrypt text.</a:t>
            </a:r>
          </a:p>
        </p:txBody>
      </p:sp>
    </p:spTree>
    <p:extLst>
      <p:ext uri="{BB962C8B-B14F-4D97-AF65-F5344CB8AC3E}">
        <p14:creationId xmlns:p14="http://schemas.microsoft.com/office/powerpoint/2010/main" val="98397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C33F-67B6-C6B6-BBE6-79606179C4C8}"/>
              </a:ext>
            </a:extLst>
          </p:cNvPr>
          <p:cNvSpPr txBox="1"/>
          <p:nvPr/>
        </p:nvSpPr>
        <p:spPr>
          <a:xfrm>
            <a:off x="3458323" y="-7239000"/>
            <a:ext cx="5275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Tools and 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762000" y="1752600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 the Application: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11888" y="2276237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the Flask server by running: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2EE41-E199-64E0-BDED-0600E64E95F5}"/>
              </a:ext>
            </a:extLst>
          </p:cNvPr>
          <p:cNvSpPr txBox="1"/>
          <p:nvPr/>
        </p:nvSpPr>
        <p:spPr>
          <a:xfrm>
            <a:off x="4003472" y="634425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Run the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11888" y="486772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encryption panel to encrypt text.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FA4DE-ADA0-8732-C4CD-78BD9C3BE78B}"/>
              </a:ext>
            </a:extLst>
          </p:cNvPr>
          <p:cNvSpPr txBox="1"/>
          <p:nvPr/>
        </p:nvSpPr>
        <p:spPr>
          <a:xfrm>
            <a:off x="762000" y="4343400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the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71302-C388-A622-8DD9-0F8B091899CE}"/>
              </a:ext>
            </a:extLst>
          </p:cNvPr>
          <p:cNvSpPr txBox="1"/>
          <p:nvPr/>
        </p:nvSpPr>
        <p:spPr>
          <a:xfrm>
            <a:off x="1411888" y="533048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decryption panel to decrypt text.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8A5C8-7F01-276D-ED13-26959D349918}"/>
              </a:ext>
            </a:extLst>
          </p:cNvPr>
          <p:cNvSpPr txBox="1"/>
          <p:nvPr/>
        </p:nvSpPr>
        <p:spPr>
          <a:xfrm>
            <a:off x="4572800" y="2608266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python app.py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12FA9-5160-A434-9BB4-287996AB9EBE}"/>
              </a:ext>
            </a:extLst>
          </p:cNvPr>
          <p:cNvSpPr txBox="1"/>
          <p:nvPr/>
        </p:nvSpPr>
        <p:spPr>
          <a:xfrm>
            <a:off x="1411888" y="32004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web browser and go to http://127.0.0.1:5000 to access the application.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42BF2-D22E-42AA-649F-1C6DEF21E6CB}"/>
              </a:ext>
            </a:extLst>
          </p:cNvPr>
          <p:cNvSpPr txBox="1"/>
          <p:nvPr/>
        </p:nvSpPr>
        <p:spPr>
          <a:xfrm>
            <a:off x="15621000" y="3278243"/>
            <a:ext cx="265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Set Up the Project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5B76A-4D93-CCCF-DDD8-4ADBBAB02D68}"/>
              </a:ext>
            </a:extLst>
          </p:cNvPr>
          <p:cNvSpPr txBox="1"/>
          <p:nvPr/>
        </p:nvSpPr>
        <p:spPr>
          <a:xfrm>
            <a:off x="-10627712" y="375987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Clone or download the project files to your computer.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EA35C-D141-C864-2EDA-CFDBBC68F868}"/>
              </a:ext>
            </a:extLst>
          </p:cNvPr>
          <p:cNvSpPr txBox="1"/>
          <p:nvPr/>
        </p:nvSpPr>
        <p:spPr>
          <a:xfrm>
            <a:off x="-11277600" y="1752600"/>
            <a:ext cx="199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Install Python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6B65FC-A879-202C-052E-938DAADCC0F7}"/>
              </a:ext>
            </a:extLst>
          </p:cNvPr>
          <p:cNvSpPr txBox="1"/>
          <p:nvPr/>
        </p:nvSpPr>
        <p:spPr>
          <a:xfrm>
            <a:off x="16270888" y="2179261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Download and install Python from the official website: </a:t>
            </a:r>
            <a:r>
              <a:rPr lang="en-US" sz="2000" dirty="0">
                <a:hlinkClick r:id="rId2"/>
              </a:rPr>
              <a:t>Python Download</a:t>
            </a:r>
            <a:r>
              <a:rPr lang="en-US" sz="20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A74BD-7F6F-703E-355F-802B9E6B1FFF}"/>
              </a:ext>
            </a:extLst>
          </p:cNvPr>
          <p:cNvSpPr txBox="1"/>
          <p:nvPr/>
        </p:nvSpPr>
        <p:spPr>
          <a:xfrm>
            <a:off x="-10627712" y="2544367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Ensure you have Python 3.10 or higher installed.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698599-163B-C3B6-F0CB-FB5EC3FD4B31}"/>
              </a:ext>
            </a:extLst>
          </p:cNvPr>
          <p:cNvSpPr txBox="1"/>
          <p:nvPr/>
        </p:nvSpPr>
        <p:spPr>
          <a:xfrm>
            <a:off x="-10627712" y="5018071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terminal and navigate to the project folder.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745C7C-1379-E173-10CB-1DE2D760C716}"/>
              </a:ext>
            </a:extLst>
          </p:cNvPr>
          <p:cNvSpPr txBox="1"/>
          <p:nvPr/>
        </p:nvSpPr>
        <p:spPr>
          <a:xfrm>
            <a:off x="15621000" y="4493751"/>
            <a:ext cx="308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Install Dependencies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F7A526-D825-7B01-BCF0-AB2EA2FF98C7}"/>
              </a:ext>
            </a:extLst>
          </p:cNvPr>
          <p:cNvSpPr txBox="1"/>
          <p:nvPr/>
        </p:nvSpPr>
        <p:spPr>
          <a:xfrm>
            <a:off x="16270888" y="5480836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Install the required libraries using: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EEC3E7-96E9-1CE7-07BF-D7C5B2C89A0B}"/>
              </a:ext>
            </a:extLst>
          </p:cNvPr>
          <p:cNvSpPr txBox="1"/>
          <p:nvPr/>
        </p:nvSpPr>
        <p:spPr>
          <a:xfrm>
            <a:off x="4572800" y="9429690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pip install flask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1274C9-7AAB-B8C8-20B8-7B9FE5ABD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54" t="1155" r="3246" b="95765"/>
          <a:stretch/>
        </p:blipFill>
        <p:spPr>
          <a:xfrm>
            <a:off x="4017818" y="1743253"/>
            <a:ext cx="4156364" cy="15543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5BEA6DD-3F52-556C-FBD8-150CBDA34523}"/>
              </a:ext>
            </a:extLst>
          </p:cNvPr>
          <p:cNvSpPr/>
          <p:nvPr/>
        </p:nvSpPr>
        <p:spPr>
          <a:xfrm>
            <a:off x="5253038" y="4293613"/>
            <a:ext cx="381000" cy="2424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20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-8991600" y="1752600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 the Application: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823088" y="2276237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the Flask server by running: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2EE41-E199-64E0-BDED-0600E64E95F5}"/>
              </a:ext>
            </a:extLst>
          </p:cNvPr>
          <p:cNvSpPr txBox="1"/>
          <p:nvPr/>
        </p:nvSpPr>
        <p:spPr>
          <a:xfrm>
            <a:off x="4003472" y="-990600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Run the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823088" y="486772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encryption panel to encrypt text.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FA4DE-ADA0-8732-C4CD-78BD9C3BE78B}"/>
              </a:ext>
            </a:extLst>
          </p:cNvPr>
          <p:cNvSpPr txBox="1"/>
          <p:nvPr/>
        </p:nvSpPr>
        <p:spPr>
          <a:xfrm>
            <a:off x="-8991600" y="4343400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the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71302-C388-A622-8DD9-0F8B091899CE}"/>
              </a:ext>
            </a:extLst>
          </p:cNvPr>
          <p:cNvSpPr txBox="1"/>
          <p:nvPr/>
        </p:nvSpPr>
        <p:spPr>
          <a:xfrm>
            <a:off x="-8341712" y="533048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decryption panel to decrypt text.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8A5C8-7F01-276D-ED13-26959D349918}"/>
              </a:ext>
            </a:extLst>
          </p:cNvPr>
          <p:cNvSpPr txBox="1"/>
          <p:nvPr/>
        </p:nvSpPr>
        <p:spPr>
          <a:xfrm>
            <a:off x="-5180800" y="2608266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python app.py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12FA9-5160-A434-9BB4-287996AB9EBE}"/>
              </a:ext>
            </a:extLst>
          </p:cNvPr>
          <p:cNvSpPr txBox="1"/>
          <p:nvPr/>
        </p:nvSpPr>
        <p:spPr>
          <a:xfrm>
            <a:off x="14823088" y="32004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web browser and go to http://127.0.0.1:5000 to access the application.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021862" y="634425"/>
            <a:ext cx="2148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Flowcharts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25CEBA-ECD8-1D15-976D-70174AC0E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54" t="4235" r="3246"/>
          <a:stretch/>
        </p:blipFill>
        <p:spPr>
          <a:xfrm>
            <a:off x="4017818" y="1898687"/>
            <a:ext cx="4156364" cy="483286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ADB21A-3A9E-DCD0-A310-745A8E73A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8710"/>
          <a:stretch/>
        </p:blipFill>
        <p:spPr>
          <a:xfrm>
            <a:off x="4861905" y="1225315"/>
            <a:ext cx="2468190" cy="700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EC00229-7647-8C70-BDBB-4DE50DA0660A}"/>
              </a:ext>
            </a:extLst>
          </p:cNvPr>
          <p:cNvSpPr txBox="1"/>
          <p:nvPr/>
        </p:nvSpPr>
        <p:spPr>
          <a:xfrm>
            <a:off x="762000" y="1443335"/>
            <a:ext cx="4005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Algorithm in code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61D398-B1F3-C6F9-10BC-8BC5043D8B50}"/>
              </a:ext>
            </a:extLst>
          </p:cNvPr>
          <p:cNvSpPr/>
          <p:nvPr/>
        </p:nvSpPr>
        <p:spPr>
          <a:xfrm>
            <a:off x="5253038" y="4293613"/>
            <a:ext cx="381000" cy="242451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86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-8991600" y="1752600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 the Application: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823088" y="2276237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the Flask server by running: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2EE41-E199-64E0-BDED-0600E64E95F5}"/>
              </a:ext>
            </a:extLst>
          </p:cNvPr>
          <p:cNvSpPr txBox="1"/>
          <p:nvPr/>
        </p:nvSpPr>
        <p:spPr>
          <a:xfrm>
            <a:off x="4003472" y="-990600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Run the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823088" y="486772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encryption panel to encrypt text.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FA4DE-ADA0-8732-C4CD-78BD9C3BE78B}"/>
              </a:ext>
            </a:extLst>
          </p:cNvPr>
          <p:cNvSpPr txBox="1"/>
          <p:nvPr/>
        </p:nvSpPr>
        <p:spPr>
          <a:xfrm>
            <a:off x="-8991600" y="4343400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the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71302-C388-A622-8DD9-0F8B091899CE}"/>
              </a:ext>
            </a:extLst>
          </p:cNvPr>
          <p:cNvSpPr txBox="1"/>
          <p:nvPr/>
        </p:nvSpPr>
        <p:spPr>
          <a:xfrm>
            <a:off x="-8341712" y="533048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decryption panel to decrypt text.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8A5C8-7F01-276D-ED13-26959D349918}"/>
              </a:ext>
            </a:extLst>
          </p:cNvPr>
          <p:cNvSpPr txBox="1"/>
          <p:nvPr/>
        </p:nvSpPr>
        <p:spPr>
          <a:xfrm>
            <a:off x="-5180800" y="2608266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python app.py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12FA9-5160-A434-9BB4-287996AB9EBE}"/>
              </a:ext>
            </a:extLst>
          </p:cNvPr>
          <p:cNvSpPr txBox="1"/>
          <p:nvPr/>
        </p:nvSpPr>
        <p:spPr>
          <a:xfrm>
            <a:off x="14823088" y="32004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web browser and go to http://127.0.0.1:5000 to access the application.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021862" y="634425"/>
            <a:ext cx="2148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Flowcharts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5674F7-C082-5FC7-89BC-7643163D0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115"/>
          <a:stretch/>
        </p:blipFill>
        <p:spPr>
          <a:xfrm>
            <a:off x="4602745" y="1358811"/>
            <a:ext cx="2986510" cy="457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963A2C-944B-132B-0551-8CF916D2B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905" y="1225314"/>
            <a:ext cx="2468190" cy="54330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573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RSA Encryption Algorithm</a:t>
            </a:r>
          </a:p>
        </p:txBody>
      </p:sp>
    </p:spTree>
    <p:extLst>
      <p:ext uri="{BB962C8B-B14F-4D97-AF65-F5344CB8AC3E}">
        <p14:creationId xmlns:p14="http://schemas.microsoft.com/office/powerpoint/2010/main" val="3925198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FF4708-369F-4FEC-55D0-A151DC040863}"/>
              </a:ext>
            </a:extLst>
          </p:cNvPr>
          <p:cNvSpPr txBox="1"/>
          <p:nvPr/>
        </p:nvSpPr>
        <p:spPr>
          <a:xfrm>
            <a:off x="-8991600" y="1752600"/>
            <a:ext cx="287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Run the Application: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C0809-463C-7540-BBD9-71B103363C3E}"/>
              </a:ext>
            </a:extLst>
          </p:cNvPr>
          <p:cNvSpPr txBox="1"/>
          <p:nvPr/>
        </p:nvSpPr>
        <p:spPr>
          <a:xfrm>
            <a:off x="14823088" y="2276237"/>
            <a:ext cx="1055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Start the Flask server by running: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2EE41-E199-64E0-BDED-0600E64E95F5}"/>
              </a:ext>
            </a:extLst>
          </p:cNvPr>
          <p:cNvSpPr txBox="1"/>
          <p:nvPr/>
        </p:nvSpPr>
        <p:spPr>
          <a:xfrm>
            <a:off x="4003472" y="-990600"/>
            <a:ext cx="418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Run the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1F3442-A4AE-4B67-F3A2-52F6C9C279DF}"/>
              </a:ext>
            </a:extLst>
          </p:cNvPr>
          <p:cNvSpPr txBox="1"/>
          <p:nvPr/>
        </p:nvSpPr>
        <p:spPr>
          <a:xfrm>
            <a:off x="14823088" y="486772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encryption panel to encrypt text.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FA4DE-ADA0-8732-C4CD-78BD9C3BE78B}"/>
              </a:ext>
            </a:extLst>
          </p:cNvPr>
          <p:cNvSpPr txBox="1"/>
          <p:nvPr/>
        </p:nvSpPr>
        <p:spPr>
          <a:xfrm>
            <a:off x="-8991600" y="4343400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the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71302-C388-A622-8DD9-0F8B091899CE}"/>
              </a:ext>
            </a:extLst>
          </p:cNvPr>
          <p:cNvSpPr txBox="1"/>
          <p:nvPr/>
        </p:nvSpPr>
        <p:spPr>
          <a:xfrm>
            <a:off x="-8341712" y="5330485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decryption panel to decrypt text.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8A5C8-7F01-276D-ED13-26959D349918}"/>
              </a:ext>
            </a:extLst>
          </p:cNvPr>
          <p:cNvSpPr txBox="1"/>
          <p:nvPr/>
        </p:nvSpPr>
        <p:spPr>
          <a:xfrm>
            <a:off x="-5180800" y="2608266"/>
            <a:ext cx="3046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/>
              <a:t>python app.py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12FA9-5160-A434-9BB4-287996AB9EBE}"/>
              </a:ext>
            </a:extLst>
          </p:cNvPr>
          <p:cNvSpPr txBox="1"/>
          <p:nvPr/>
        </p:nvSpPr>
        <p:spPr>
          <a:xfrm>
            <a:off x="14823088" y="3200400"/>
            <a:ext cx="9560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 a web browser and go to http://127.0.0.1:5000 to access the application.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021862" y="634425"/>
            <a:ext cx="2148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Flowcharts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63A2C-944B-132B-0551-8CF916D2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02745" y="1358811"/>
            <a:ext cx="2986510" cy="51660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E2E68B-77A8-82F1-421F-A033288C3A1C}"/>
              </a:ext>
            </a:extLst>
          </p:cNvPr>
          <p:cNvSpPr txBox="1"/>
          <p:nvPr/>
        </p:nvSpPr>
        <p:spPr>
          <a:xfrm>
            <a:off x="762000" y="1443335"/>
            <a:ext cx="3606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SHA Encryption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959261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60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LCG Encryption Algorithm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AB0616-9298-70A9-F5BE-96C3CDED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13" y="3429000"/>
            <a:ext cx="7966774" cy="103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8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60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LCG Encryption Algorithm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AB0616-9298-70A9-F5BE-96C3CDED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13" y="2438400"/>
            <a:ext cx="7966774" cy="10363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3CB352-592B-2402-8980-5ECBF54B3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04" y="4025307"/>
            <a:ext cx="1855017" cy="19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01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60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LCG Encryption Algorithm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AB0616-9298-70A9-F5BE-96C3CDED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13" y="2438400"/>
            <a:ext cx="7966774" cy="10363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BF7497-BE1F-F440-62A5-0052B8007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89" y="3901256"/>
            <a:ext cx="4945023" cy="23330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3CB352-592B-2402-8980-5ECBF54B3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04" y="4025307"/>
            <a:ext cx="1855017" cy="19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4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4119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Counter Encryption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78456C-3D85-6DC1-58CD-94F2223F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208"/>
          <a:stretch/>
        </p:blipFill>
        <p:spPr>
          <a:xfrm>
            <a:off x="161339" y="2683504"/>
            <a:ext cx="11869322" cy="261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1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4119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Counter Encryption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78456C-3D85-6DC1-58CD-94F2223F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2200"/>
          <a:stretch/>
        </p:blipFill>
        <p:spPr>
          <a:xfrm>
            <a:off x="700854" y="1828800"/>
            <a:ext cx="10790293" cy="497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9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573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RSA Encryption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1D90B-561A-5A93-3C79-E72713614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95" b="73039"/>
          <a:stretch/>
        </p:blipFill>
        <p:spPr>
          <a:xfrm>
            <a:off x="281287" y="3194781"/>
            <a:ext cx="7338713" cy="8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3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">
        <p159:morph option="byObject"/>
      </p:transition>
    </mc:Choice>
    <mc:Fallback xmlns="">
      <p:transition spd="slow" advClick="0" advTm="1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573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RSA Encryption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1D90B-561A-5A93-3C79-E72713614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36240" b="48693"/>
          <a:stretch/>
        </p:blipFill>
        <p:spPr>
          <a:xfrm>
            <a:off x="281287" y="3194781"/>
            <a:ext cx="7414913" cy="160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7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">
        <p159:morph option="byObject"/>
      </p:transition>
    </mc:Choice>
    <mc:Fallback xmlns="">
      <p:transition spd="slow" advClick="0" advTm="1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573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RSA Encryption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1D90B-561A-5A93-3C79-E72713614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-2" r="201" b="29073"/>
          <a:stretch/>
        </p:blipFill>
        <p:spPr>
          <a:xfrm>
            <a:off x="281287" y="3194781"/>
            <a:ext cx="11605913" cy="221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32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">
        <p159:morph option="byObject"/>
      </p:transition>
    </mc:Choice>
    <mc:Fallback xmlns="">
      <p:transition spd="slow" advClick="0" advTm="1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3573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RSA Encryption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1D90B-561A-5A93-3C79-E72713614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-3" r="201" b="3227"/>
          <a:stretch/>
        </p:blipFill>
        <p:spPr>
          <a:xfrm>
            <a:off x="281287" y="2514600"/>
            <a:ext cx="11605913" cy="30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99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1C750F-E49A-3D9F-1C00-10DD7602588A}"/>
              </a:ext>
            </a:extLst>
          </p:cNvPr>
          <p:cNvSpPr txBox="1"/>
          <p:nvPr/>
        </p:nvSpPr>
        <p:spPr>
          <a:xfrm>
            <a:off x="5145968" y="634425"/>
            <a:ext cx="190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8B7D8-979F-3B4B-FE36-F38E718CE040}"/>
              </a:ext>
            </a:extLst>
          </p:cNvPr>
          <p:cNvSpPr txBox="1"/>
          <p:nvPr/>
        </p:nvSpPr>
        <p:spPr>
          <a:xfrm>
            <a:off x="762000" y="1443335"/>
            <a:ext cx="1004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SHA-1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622A4-E79E-48C5-0A7C-492ABE84D528}"/>
              </a:ext>
            </a:extLst>
          </p:cNvPr>
          <p:cNvSpPr txBox="1"/>
          <p:nvPr/>
        </p:nvSpPr>
        <p:spPr>
          <a:xfrm>
            <a:off x="1766699" y="2209800"/>
            <a:ext cx="946073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Converting text into ASCII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Convert ASCII code into binary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Add all binary bits with each other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Add “1” then zeros until it matches 448 Bit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Add the main message length which is 64 Bit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 form 512 Bit divided into 16 words for each one is 32 Bit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Make the basic Logical 4 operators onto the words (20 Words each)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final Hash result it will be 160 Bit length</a:t>
            </a:r>
          </a:p>
        </p:txBody>
      </p:sp>
    </p:spTree>
    <p:extLst>
      <p:ext uri="{BB962C8B-B14F-4D97-AF65-F5344CB8AC3E}">
        <p14:creationId xmlns:p14="http://schemas.microsoft.com/office/powerpoint/2010/main" val="3277469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1509</Words>
  <Application>Microsoft Office PowerPoint</Application>
  <PresentationFormat>Widescreen</PresentationFormat>
  <Paragraphs>207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Bn Ehab</dc:creator>
  <cp:lastModifiedBy>Bn Ehab</cp:lastModifiedBy>
  <cp:revision>16</cp:revision>
  <dcterms:created xsi:type="dcterms:W3CDTF">2025-04-29T05:40:52Z</dcterms:created>
  <dcterms:modified xsi:type="dcterms:W3CDTF">2025-05-03T09:58:17Z</dcterms:modified>
</cp:coreProperties>
</file>